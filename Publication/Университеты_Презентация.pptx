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0" r:id="rId1"/>
  </p:sldMasterIdLst>
  <p:notesMasterIdLst>
    <p:notesMasterId r:id="rId15"/>
  </p:notesMasterIdLst>
  <p:sldIdLst>
    <p:sldId id="256" r:id="rId2"/>
    <p:sldId id="257" r:id="rId3"/>
    <p:sldId id="274" r:id="rId4"/>
    <p:sldId id="275" r:id="rId5"/>
    <p:sldId id="276" r:id="rId6"/>
    <p:sldId id="260" r:id="rId7"/>
    <p:sldId id="277" r:id="rId8"/>
    <p:sldId id="278" r:id="rId9"/>
    <p:sldId id="279" r:id="rId10"/>
    <p:sldId id="280" r:id="rId11"/>
    <p:sldId id="281" r:id="rId12"/>
    <p:sldId id="282" r:id="rId13"/>
    <p:sldId id="283" r:id="rId14"/>
  </p:sldIdLst>
  <p:sldSz cx="18288000" cy="10287000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Wingdings 3" panose="050401020108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6283" autoAdjust="0"/>
  </p:normalViewPr>
  <p:slideViewPr>
    <p:cSldViewPr>
      <p:cViewPr varScale="1">
        <p:scale>
          <a:sx n="56" d="100"/>
          <a:sy n="56" d="100"/>
        </p:scale>
        <p:origin x="61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87EA7-9010-4B47-B062-09F36F19231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AC3DF-CE65-47BA-A523-97400956E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5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3820" y="3771901"/>
            <a:ext cx="13373099" cy="3394172"/>
          </a:xfrm>
        </p:spPr>
        <p:txBody>
          <a:bodyPr anchor="b">
            <a:normAutofit/>
          </a:bodyPr>
          <a:lstStyle>
            <a:lvl1pPr>
              <a:defRPr sz="8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3820" y="7166069"/>
            <a:ext cx="13373099" cy="1689425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6485716"/>
            <a:ext cx="2616978" cy="1167884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6794311"/>
            <a:ext cx="11696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0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8" y="936165"/>
            <a:ext cx="13367531" cy="192133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818" y="3200400"/>
            <a:ext cx="13373100" cy="566643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2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3088125"/>
            <a:ext cx="13373099" cy="2203200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9" y="5295194"/>
            <a:ext cx="13373099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47672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4866209"/>
            <a:ext cx="11696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4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3818" y="3200400"/>
            <a:ext cx="6470796" cy="56664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86121" y="3189333"/>
            <a:ext cx="6470796" cy="56664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1181674"/>
            <a:ext cx="11696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2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9060" y="2959055"/>
            <a:ext cx="598909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3819" y="3823449"/>
            <a:ext cx="6514340" cy="503109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259944" y="2954213"/>
            <a:ext cx="5998502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750436" y="3818607"/>
            <a:ext cx="6508011" cy="503109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1181674"/>
            <a:ext cx="11696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0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1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30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669132"/>
            <a:ext cx="5257799" cy="1464468"/>
          </a:xfrm>
        </p:spPr>
        <p:txBody>
          <a:bodyPr anchor="b"/>
          <a:lstStyle>
            <a:lvl1pPr algn="l">
              <a:defRPr sz="3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4518" y="669133"/>
            <a:ext cx="7772400" cy="812244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19" y="2397920"/>
            <a:ext cx="5257799" cy="6393654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3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20" y="7200900"/>
            <a:ext cx="13373100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3818" y="952448"/>
            <a:ext cx="13373100" cy="578245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8051007"/>
            <a:ext cx="13373100" cy="740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91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914400"/>
            <a:ext cx="13373099" cy="467556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9" y="6531069"/>
            <a:ext cx="13373099" cy="2333796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47672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4866209"/>
            <a:ext cx="11696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1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4924" y="914400"/>
            <a:ext cx="12590889" cy="434340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12518" y="5257800"/>
            <a:ext cx="11304831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9" y="6531069"/>
            <a:ext cx="13373099" cy="2333796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283" y="47672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4866209"/>
            <a:ext cx="11696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701478" y="972008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72278" y="435795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7512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20" y="3657601"/>
            <a:ext cx="13373100" cy="4087268"/>
          </a:xfrm>
        </p:spPr>
        <p:txBody>
          <a:bodyPr anchor="b">
            <a:normAutofit/>
          </a:bodyPr>
          <a:lstStyle>
            <a:lvl1pPr algn="l"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7772400"/>
            <a:ext cx="13373100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76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274924" y="914400"/>
            <a:ext cx="12590889" cy="434340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883818" y="6515100"/>
            <a:ext cx="13373100" cy="12573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7772400"/>
            <a:ext cx="13373100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701478" y="972008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72278" y="435795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246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941111"/>
            <a:ext cx="13373099" cy="4320030"/>
          </a:xfrm>
        </p:spPr>
        <p:txBody>
          <a:bodyPr anchor="ctr">
            <a:normAutofit/>
          </a:bodyPr>
          <a:lstStyle>
            <a:lvl1pPr algn="l"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883818" y="6515100"/>
            <a:ext cx="13373100" cy="12573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7772400"/>
            <a:ext cx="13373100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32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64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42219" y="941108"/>
            <a:ext cx="3311402" cy="7925726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3818" y="941108"/>
            <a:ext cx="9715500" cy="792572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7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2" y="342900"/>
            <a:ext cx="4277274" cy="9957942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40832" y="-1179"/>
            <a:ext cx="3535011" cy="1028105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74320" cy="1028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9387" y="936165"/>
            <a:ext cx="13367531" cy="19213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8" y="3200400"/>
            <a:ext cx="13373100" cy="5829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42419" y="9195656"/>
            <a:ext cx="1719425" cy="5555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3819" y="9203713"/>
            <a:ext cx="1142999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97719" y="1181674"/>
            <a:ext cx="11696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9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814834" y="284142"/>
            <a:ext cx="14263366" cy="861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47"/>
              </a:lnSpc>
            </a:pPr>
            <a:r>
              <a:rPr lang="en-US" sz="2533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</a:t>
            </a:r>
            <a:r>
              <a:rPr lang="ru-RU" sz="2533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МОЛОДЕЖНОЙ ПОЛИТИКИ</a:t>
            </a:r>
            <a:r>
              <a:rPr lang="en-US" sz="2533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СВЕРДЛОВСКОЙ ОБЛАСТИ</a:t>
            </a:r>
          </a:p>
          <a:p>
            <a:pPr>
              <a:lnSpc>
                <a:spcPts val="3547"/>
              </a:lnSpc>
            </a:pPr>
            <a:r>
              <a:rPr lang="en-US" sz="2533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ГАПОУ СО «ЕКАТЕРИНБУРГСКИЙ КОЛЛЕДЖ ТРАНСПОРТНОГО СТРОИТЕЛЬСТВА»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233163"/>
            <a:ext cx="1593814" cy="159381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Box 7"/>
          <p:cNvSpPr txBox="1"/>
          <p:nvPr/>
        </p:nvSpPr>
        <p:spPr>
          <a:xfrm>
            <a:off x="1814834" y="2651126"/>
            <a:ext cx="14568166" cy="3885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23"/>
              </a:lnSpc>
            </a:pPr>
            <a:r>
              <a:rPr lang="ru-RU" sz="9600" spc="-414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приложение для База данных «Университеты</a:t>
            </a:r>
          </a:p>
          <a:p>
            <a:pPr>
              <a:lnSpc>
                <a:spcPts val="10123"/>
              </a:lnSpc>
            </a:pPr>
            <a:r>
              <a:rPr lang="ru-RU" sz="9600" spc="-414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Белоруссии»</a:t>
            </a:r>
            <a:endParaRPr lang="en-US" sz="9600" spc="-414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85873" y="537501"/>
            <a:ext cx="1022067" cy="1289476"/>
            <a:chOff x="0" y="0"/>
            <a:chExt cx="1362756" cy="171930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 cstate="print"/>
            <a:srcRect t="10179" b="10179"/>
            <a:stretch>
              <a:fillRect/>
            </a:stretch>
          </p:blipFill>
          <p:spPr>
            <a:xfrm>
              <a:off x="0" y="0"/>
              <a:ext cx="1362756" cy="171930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814834" y="8088094"/>
            <a:ext cx="9831178" cy="184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9"/>
              </a:lnSpc>
              <a:spcBef>
                <a:spcPct val="0"/>
              </a:spcBef>
            </a:pPr>
            <a:r>
              <a:rPr lang="en-US" sz="267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Работу</a:t>
            </a:r>
            <a:r>
              <a:rPr lang="en-US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7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ru-RU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Рогов А. М.</a:t>
            </a:r>
            <a:endParaRPr lang="en-US" sz="267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739"/>
              </a:lnSpc>
              <a:spcBef>
                <a:spcPct val="0"/>
              </a:spcBef>
            </a:pPr>
            <a:r>
              <a:rPr lang="en-US" sz="267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Мирошниченко Г.В.</a:t>
            </a:r>
            <a:endParaRPr lang="en-US" sz="267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739"/>
              </a:lnSpc>
              <a:spcBef>
                <a:spcPct val="0"/>
              </a:spcBef>
            </a:pPr>
            <a:r>
              <a:rPr lang="en-US" sz="267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Пр-31</a:t>
            </a:r>
          </a:p>
          <a:p>
            <a:pPr>
              <a:lnSpc>
                <a:spcPts val="3739"/>
              </a:lnSpc>
              <a:spcBef>
                <a:spcPct val="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0" y="7522183"/>
            <a:ext cx="7541480" cy="448676"/>
            <a:chOff x="0" y="0"/>
            <a:chExt cx="9605948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169456" y="7522183"/>
            <a:ext cx="7541480" cy="448676"/>
            <a:chOff x="0" y="0"/>
            <a:chExt cx="9605948" cy="571500"/>
          </a:xfrm>
        </p:grpSpPr>
        <p:sp>
          <p:nvSpPr>
            <p:cNvPr id="14" name="Freeform 14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51569" y="958303"/>
            <a:ext cx="11329791" cy="97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27"/>
              </a:lnSpc>
            </a:pPr>
            <a:r>
              <a:rPr lang="en-US" sz="6843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</a:t>
            </a:r>
            <a:r>
              <a:rPr lang="en-US" sz="6843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разработке</a:t>
            </a:r>
            <a:endParaRPr lang="en-US" sz="6843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03905" y="2106714"/>
            <a:ext cx="14988705" cy="3026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4"/>
              </a:lnSpc>
            </a:pPr>
            <a:r>
              <a:rPr lang="ru-RU" sz="3424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предназначена для предоставления информации об университетах Беларуси. Продукт позволяет увидеть список университетов, их сайты и области. Данная разработка — это программный комплекс, предназначенный для отслеживания информации об университетах, специальностях, студентах и преподавателях.</a:t>
            </a:r>
            <a:endParaRPr lang="en-US" sz="3424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532850" y="8711347"/>
            <a:ext cx="3842667" cy="54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ru-RU" sz="320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Запись данных</a:t>
            </a:r>
            <a:endParaRPr lang="en-US" sz="320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56102" y="8711347"/>
            <a:ext cx="3842667" cy="54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</a:t>
            </a:r>
            <a:r>
              <a:rPr lang="ru-RU" sz="320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ролей</a:t>
            </a:r>
            <a:endParaRPr lang="en-US" sz="320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000177" y="8711347"/>
            <a:ext cx="3842667" cy="54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Картотека</a:t>
            </a:r>
            <a:endParaRPr lang="en-US" sz="320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Рисунок 19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9D9DE7-6A45-8F27-F332-F0ECB1E0D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383" y="5780927"/>
            <a:ext cx="2895600" cy="2895600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DD32DD-9346-58DA-AD3E-E7D7EE259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199" y="5780924"/>
            <a:ext cx="2895601" cy="2895601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AF99E0-8CAF-2CE9-173D-04D3AE2E1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3709" y="5828445"/>
            <a:ext cx="2895602" cy="2895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EE97D-2B74-F5D1-7BE1-42140159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A873AD3-1172-2916-BB37-02690CCE1934}"/>
              </a:ext>
            </a:extLst>
          </p:cNvPr>
          <p:cNvSpPr txBox="1"/>
          <p:nvPr/>
        </p:nvSpPr>
        <p:spPr>
          <a:xfrm>
            <a:off x="2971800" y="918473"/>
            <a:ext cx="11329791" cy="104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10"/>
              </a:lnSpc>
            </a:pPr>
            <a:r>
              <a:rPr lang="en-US" sz="6600" spc="-170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r>
              <a:rPr lang="en-US" sz="6600" spc="-17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6600" spc="-170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sz="6600" spc="-17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spc="-170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endParaRPr lang="en-US" sz="6600" spc="-17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19A28849-594F-2E66-BC09-B28F5078327A}"/>
              </a:ext>
            </a:extLst>
          </p:cNvPr>
          <p:cNvSpPr txBox="1"/>
          <p:nvPr/>
        </p:nvSpPr>
        <p:spPr>
          <a:xfrm>
            <a:off x="2971800" y="2933700"/>
            <a:ext cx="10677625" cy="44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ct val="0"/>
              </a:spcBef>
            </a:pP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актуальную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информацию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данной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en-US" sz="2687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4299F8E6-E49B-663E-F1C7-FE3D1B2EF351}"/>
              </a:ext>
            </a:extLst>
          </p:cNvPr>
          <p:cNvSpPr txBox="1"/>
          <p:nvPr/>
        </p:nvSpPr>
        <p:spPr>
          <a:xfrm>
            <a:off x="2971800" y="3733564"/>
            <a:ext cx="10677625" cy="44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ct val="0"/>
              </a:spcBef>
            </a:pP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Подобрать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разработки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программного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продукта</a:t>
            </a:r>
            <a:endParaRPr lang="en-US" sz="2687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97F01FD7-C3B1-8638-2C11-D649C039138B}"/>
              </a:ext>
            </a:extLst>
          </p:cNvPr>
          <p:cNvSpPr txBox="1"/>
          <p:nvPr/>
        </p:nvSpPr>
        <p:spPr>
          <a:xfrm>
            <a:off x="2971800" y="4481593"/>
            <a:ext cx="10677625" cy="44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ct val="0"/>
              </a:spcBef>
            </a:pP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Подобрать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удобный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дизайн</a:t>
            </a:r>
            <a:endParaRPr lang="en-US" sz="2687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736C4364-7B97-2ACE-5BE7-B8A81E3F65B2}"/>
              </a:ext>
            </a:extLst>
          </p:cNvPr>
          <p:cNvSpPr txBox="1"/>
          <p:nvPr/>
        </p:nvSpPr>
        <p:spPr>
          <a:xfrm>
            <a:off x="2971800" y="5146187"/>
            <a:ext cx="10677625" cy="44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ct val="0"/>
              </a:spcBef>
            </a:pP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Учесть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задаче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подобранный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endParaRPr lang="en-US" sz="2687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15">
            <a:extLst>
              <a:ext uri="{FF2B5EF4-FFF2-40B4-BE49-F238E27FC236}">
                <a16:creationId xmlns:a16="http://schemas.microsoft.com/office/drawing/2014/main" id="{5148B9C7-C074-2476-4352-4114FDDDE927}"/>
              </a:ext>
            </a:extLst>
          </p:cNvPr>
          <p:cNvGrpSpPr/>
          <p:nvPr/>
        </p:nvGrpSpPr>
        <p:grpSpPr>
          <a:xfrm>
            <a:off x="2617670" y="3081821"/>
            <a:ext cx="200025" cy="200025"/>
            <a:chOff x="0" y="0"/>
            <a:chExt cx="1913890" cy="1913890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EA8B6CF-7ECC-3E12-36BC-C5E3AA8E3FAF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7">
            <a:extLst>
              <a:ext uri="{FF2B5EF4-FFF2-40B4-BE49-F238E27FC236}">
                <a16:creationId xmlns:a16="http://schemas.microsoft.com/office/drawing/2014/main" id="{1CF501A9-B2D9-0A88-0394-6D2C14CCFF8E}"/>
              </a:ext>
            </a:extLst>
          </p:cNvPr>
          <p:cNvGrpSpPr/>
          <p:nvPr/>
        </p:nvGrpSpPr>
        <p:grpSpPr>
          <a:xfrm>
            <a:off x="2617670" y="3881685"/>
            <a:ext cx="200025" cy="200025"/>
            <a:chOff x="0" y="0"/>
            <a:chExt cx="1913890" cy="1913890"/>
          </a:xfrm>
        </p:grpSpPr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3A844F5B-A91C-736B-8F88-AFB6548BA3CF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19">
            <a:extLst>
              <a:ext uri="{FF2B5EF4-FFF2-40B4-BE49-F238E27FC236}">
                <a16:creationId xmlns:a16="http://schemas.microsoft.com/office/drawing/2014/main" id="{9855752D-B530-9A91-5251-02A8DEE0389D}"/>
              </a:ext>
            </a:extLst>
          </p:cNvPr>
          <p:cNvGrpSpPr/>
          <p:nvPr/>
        </p:nvGrpSpPr>
        <p:grpSpPr>
          <a:xfrm>
            <a:off x="2617670" y="4629714"/>
            <a:ext cx="200025" cy="200025"/>
            <a:chOff x="0" y="0"/>
            <a:chExt cx="1913890" cy="1913890"/>
          </a:xfrm>
        </p:grpSpPr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D316AC5-0CF8-0E58-B8D2-FC6906A75BD2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1609C978-097B-3E84-9BB8-52A165FC27F1}"/>
              </a:ext>
            </a:extLst>
          </p:cNvPr>
          <p:cNvGrpSpPr/>
          <p:nvPr/>
        </p:nvGrpSpPr>
        <p:grpSpPr>
          <a:xfrm>
            <a:off x="2617670" y="5291621"/>
            <a:ext cx="200025" cy="200025"/>
            <a:chOff x="0" y="0"/>
            <a:chExt cx="1913890" cy="1913890"/>
          </a:xfrm>
        </p:grpSpPr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B4730172-BEEE-BEAC-4FC7-458CEB100B8A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4521CC1-8DEB-01C3-B468-C41FCBE68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400" y="5391633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19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D26AA-B05D-C616-D5EA-D3801011A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4">
            <a:extLst>
              <a:ext uri="{FF2B5EF4-FFF2-40B4-BE49-F238E27FC236}">
                <a16:creationId xmlns:a16="http://schemas.microsoft.com/office/drawing/2014/main" id="{D02D0700-B689-344F-79B5-FEE384998791}"/>
              </a:ext>
            </a:extLst>
          </p:cNvPr>
          <p:cNvSpPr txBox="1"/>
          <p:nvPr/>
        </p:nvSpPr>
        <p:spPr>
          <a:xfrm>
            <a:off x="2743200" y="2324100"/>
            <a:ext cx="7232119" cy="5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4200" spc="-8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ПРИВЛЕКАТЕЛЬНОСТЬ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C818E71D-E4F2-C2C3-3341-94579CFA637E}"/>
              </a:ext>
            </a:extLst>
          </p:cNvPr>
          <p:cNvSpPr txBox="1"/>
          <p:nvPr/>
        </p:nvSpPr>
        <p:spPr>
          <a:xfrm>
            <a:off x="2758990" y="2838524"/>
            <a:ext cx="10525483" cy="150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54"/>
              </a:lnSpc>
            </a:pP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Хороший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должен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быть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привлекательным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чтобы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доставлять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пользователю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удовольствие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работе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программным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24" spc="5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продуктом</a:t>
            </a:r>
            <a:r>
              <a:rPr lang="en-US" sz="2824" spc="5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3" name="Group 16">
            <a:extLst>
              <a:ext uri="{FF2B5EF4-FFF2-40B4-BE49-F238E27FC236}">
                <a16:creationId xmlns:a16="http://schemas.microsoft.com/office/drawing/2014/main" id="{057E33B1-6FA4-349F-12C2-347B19A16662}"/>
              </a:ext>
            </a:extLst>
          </p:cNvPr>
          <p:cNvGrpSpPr/>
          <p:nvPr/>
        </p:nvGrpSpPr>
        <p:grpSpPr>
          <a:xfrm>
            <a:off x="2743200" y="4917163"/>
            <a:ext cx="8890199" cy="1735050"/>
            <a:chOff x="0" y="66675"/>
            <a:chExt cx="11853599" cy="2313400"/>
          </a:xfrm>
        </p:grpSpPr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2AB7320C-C169-C614-9D3D-FACA145E3ED4}"/>
                </a:ext>
              </a:extLst>
            </p:cNvPr>
            <p:cNvSpPr txBox="1"/>
            <p:nvPr/>
          </p:nvSpPr>
          <p:spPr>
            <a:xfrm>
              <a:off x="0" y="66675"/>
              <a:ext cx="11853599" cy="728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4200" spc="-84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ЛАКОНИЧНОСТЬ И ПРОСТОТА</a:t>
              </a:r>
            </a:p>
          </p:txBody>
        </p:sp>
        <p:sp>
          <p:nvSpPr>
            <p:cNvPr id="15" name="TextBox 18">
              <a:extLst>
                <a:ext uri="{FF2B5EF4-FFF2-40B4-BE49-F238E27FC236}">
                  <a16:creationId xmlns:a16="http://schemas.microsoft.com/office/drawing/2014/main" id="{7D5EC8B7-016D-9549-1C28-6C5ED3852F08}"/>
                </a:ext>
              </a:extLst>
            </p:cNvPr>
            <p:cNvSpPr txBox="1"/>
            <p:nvPr/>
          </p:nvSpPr>
          <p:spPr>
            <a:xfrm>
              <a:off x="0" y="997484"/>
              <a:ext cx="11853599" cy="1382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Интерфейс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не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должен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быть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перегружен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лишней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информацией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9AF8DE73-AF21-A7EB-9D2E-DCB8C016A1B5}"/>
              </a:ext>
            </a:extLst>
          </p:cNvPr>
          <p:cNvGrpSpPr/>
          <p:nvPr/>
        </p:nvGrpSpPr>
        <p:grpSpPr>
          <a:xfrm>
            <a:off x="2758990" y="7205820"/>
            <a:ext cx="9565679" cy="2269435"/>
            <a:chOff x="0" y="66675"/>
            <a:chExt cx="12754239" cy="3025913"/>
          </a:xfrm>
        </p:grpSpPr>
        <p:sp>
          <p:nvSpPr>
            <p:cNvPr id="17" name="TextBox 20">
              <a:extLst>
                <a:ext uri="{FF2B5EF4-FFF2-40B4-BE49-F238E27FC236}">
                  <a16:creationId xmlns:a16="http://schemas.microsoft.com/office/drawing/2014/main" id="{19E793BE-3DA2-0C18-D1C6-453171452BD9}"/>
                </a:ext>
              </a:extLst>
            </p:cNvPr>
            <p:cNvSpPr txBox="1"/>
            <p:nvPr/>
          </p:nvSpPr>
          <p:spPr>
            <a:xfrm>
              <a:off x="0" y="66675"/>
              <a:ext cx="12754239" cy="728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4200" spc="-84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СИСТЕМАТИЗАЦИЯ</a:t>
              </a:r>
            </a:p>
          </p:txBody>
        </p:sp>
        <p:sp>
          <p:nvSpPr>
            <p:cNvPr id="25" name="TextBox 21">
              <a:extLst>
                <a:ext uri="{FF2B5EF4-FFF2-40B4-BE49-F238E27FC236}">
                  <a16:creationId xmlns:a16="http://schemas.microsoft.com/office/drawing/2014/main" id="{EA459FA2-B650-15F9-715D-BC04238F88EE}"/>
                </a:ext>
              </a:extLst>
            </p:cNvPr>
            <p:cNvSpPr txBox="1"/>
            <p:nvPr/>
          </p:nvSpPr>
          <p:spPr>
            <a:xfrm>
              <a:off x="0" y="997484"/>
              <a:ext cx="12754238" cy="20951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99"/>
                </a:lnSpc>
              </a:pP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Упрощения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и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автоматизации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операций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связанных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с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регистрацией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систематизаций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поиском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и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обработкой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spc="6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данных</a:t>
              </a:r>
              <a:r>
                <a:rPr lang="en-US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о</a:t>
              </a:r>
              <a:r>
                <a:rPr lang="ru-RU" sz="3000" spc="6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университетах</a:t>
              </a:r>
              <a:endPara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TextBox 3">
            <a:extLst>
              <a:ext uri="{FF2B5EF4-FFF2-40B4-BE49-F238E27FC236}">
                <a16:creationId xmlns:a16="http://schemas.microsoft.com/office/drawing/2014/main" id="{7A21B842-0083-9578-0AE9-816B5174B63E}"/>
              </a:ext>
            </a:extLst>
          </p:cNvPr>
          <p:cNvSpPr txBox="1"/>
          <p:nvPr/>
        </p:nvSpPr>
        <p:spPr>
          <a:xfrm>
            <a:off x="2971800" y="887504"/>
            <a:ext cx="11329791" cy="104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10"/>
              </a:lnSpc>
            </a:pPr>
            <a:r>
              <a:rPr lang="ru-RU" sz="6600" spc="-17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Качества</a:t>
            </a:r>
            <a:endParaRPr lang="en-US" sz="6600" spc="-17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Рисунок 29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BAA40E-73D8-581D-5206-16EFFDEA4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0610" y="531359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64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C8A24-6C17-A927-E74D-34FA4C7D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4">
            <a:extLst>
              <a:ext uri="{FF2B5EF4-FFF2-40B4-BE49-F238E27FC236}">
                <a16:creationId xmlns:a16="http://schemas.microsoft.com/office/drawing/2014/main" id="{B5906854-CB70-9831-A1BC-5F22B013A84A}"/>
              </a:ext>
            </a:extLst>
          </p:cNvPr>
          <p:cNvSpPr txBox="1"/>
          <p:nvPr/>
        </p:nvSpPr>
        <p:spPr>
          <a:xfrm>
            <a:off x="2743200" y="2324100"/>
            <a:ext cx="7232119" cy="5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200" b="0" i="0" u="none" strike="noStrike" kern="1200" cap="none" spc="-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НАВИГАЦИЯ</a:t>
            </a:r>
            <a:endParaRPr kumimoji="0" lang="en-US" sz="4200" b="0" i="0" u="none" strike="noStrike" kern="1200" cap="none" spc="-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6794EF4E-9653-988C-6707-C36B1CAB1C6C}"/>
              </a:ext>
            </a:extLst>
          </p:cNvPr>
          <p:cNvSpPr txBox="1"/>
          <p:nvPr/>
        </p:nvSpPr>
        <p:spPr>
          <a:xfrm>
            <a:off x="2758990" y="2838524"/>
            <a:ext cx="11338010" cy="1506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9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24" b="0" i="0" u="none" strike="noStrike" kern="1200" cap="none" spc="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экран авторизации выполнен с использованием </a:t>
            </a:r>
            <a:r>
              <a:rPr kumimoji="0" lang="ru-RU" sz="2824" b="0" i="0" u="none" strike="noStrike" kern="1200" cap="none" spc="56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MotionLayout</a:t>
            </a:r>
            <a:r>
              <a:rPr kumimoji="0" lang="ru-RU" sz="2824" b="0" i="0" u="none" strike="noStrike" kern="1200" cap="none" spc="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в виде карусели (</a:t>
            </a:r>
            <a:r>
              <a:rPr kumimoji="0" lang="ru-RU" sz="2824" b="0" i="0" u="none" strike="noStrike" kern="1200" cap="none" spc="56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Carousel</a:t>
            </a:r>
            <a:r>
              <a:rPr kumimoji="0" lang="ru-RU" sz="2824" b="0" i="0" u="none" strike="noStrike" kern="1200" cap="none" spc="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 — плавное переключение между ролями (министерство, преподаватель, студент)</a:t>
            </a:r>
            <a:endParaRPr kumimoji="0" lang="en-US" sz="2824" b="0" i="0" u="none" strike="noStrike" kern="1200" cap="none" spc="56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6">
            <a:extLst>
              <a:ext uri="{FF2B5EF4-FFF2-40B4-BE49-F238E27FC236}">
                <a16:creationId xmlns:a16="http://schemas.microsoft.com/office/drawing/2014/main" id="{4B7E3D39-F259-AFAE-525F-0BECA305D4BC}"/>
              </a:ext>
            </a:extLst>
          </p:cNvPr>
          <p:cNvGrpSpPr/>
          <p:nvPr/>
        </p:nvGrpSpPr>
        <p:grpSpPr>
          <a:xfrm>
            <a:off x="2743200" y="4917163"/>
            <a:ext cx="8905989" cy="1543539"/>
            <a:chOff x="0" y="66675"/>
            <a:chExt cx="11874652" cy="2058051"/>
          </a:xfrm>
        </p:grpSpPr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B2DA3FD2-3014-47F6-D2FA-AC41076A3094}"/>
                </a:ext>
              </a:extLst>
            </p:cNvPr>
            <p:cNvSpPr txBox="1"/>
            <p:nvPr/>
          </p:nvSpPr>
          <p:spPr>
            <a:xfrm>
              <a:off x="0" y="66675"/>
              <a:ext cx="11853599" cy="728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4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200" b="0" i="0" u="none" strike="noStrike" kern="1200" cap="none" spc="-8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ROOM</a:t>
              </a:r>
            </a:p>
          </p:txBody>
        </p:sp>
        <p:sp>
          <p:nvSpPr>
            <p:cNvPr id="15" name="TextBox 18">
              <a:extLst>
                <a:ext uri="{FF2B5EF4-FFF2-40B4-BE49-F238E27FC236}">
                  <a16:creationId xmlns:a16="http://schemas.microsoft.com/office/drawing/2014/main" id="{6317D2B4-64D7-3C1C-BCA3-45C780A61275}"/>
                </a:ext>
              </a:extLst>
            </p:cNvPr>
            <p:cNvSpPr txBox="1"/>
            <p:nvPr/>
          </p:nvSpPr>
          <p:spPr>
            <a:xfrm>
              <a:off x="21053" y="742136"/>
              <a:ext cx="11853599" cy="138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4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000" b="0" i="0" u="none" strike="noStrike" kern="1200" cap="none" spc="6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Для хранения данных использована библиотека </a:t>
              </a:r>
              <a:r>
                <a:rPr kumimoji="0" lang="ru-RU" sz="3000" b="0" i="0" u="none" strike="noStrike" kern="1200" cap="none" spc="6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Room</a:t>
              </a:r>
              <a:endParaRPr kumimoji="0" lang="en-US" sz="3000" b="0" i="0" u="none" strike="noStrike" kern="1200" cap="none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5DC25186-0BD0-E919-9BD5-E62AD56E066C}"/>
              </a:ext>
            </a:extLst>
          </p:cNvPr>
          <p:cNvGrpSpPr/>
          <p:nvPr/>
        </p:nvGrpSpPr>
        <p:grpSpPr>
          <a:xfrm>
            <a:off x="2743200" y="7205820"/>
            <a:ext cx="9581469" cy="1539973"/>
            <a:chOff x="-21053" y="66675"/>
            <a:chExt cx="12775292" cy="2053297"/>
          </a:xfrm>
        </p:grpSpPr>
        <p:sp>
          <p:nvSpPr>
            <p:cNvPr id="17" name="TextBox 20">
              <a:extLst>
                <a:ext uri="{FF2B5EF4-FFF2-40B4-BE49-F238E27FC236}">
                  <a16:creationId xmlns:a16="http://schemas.microsoft.com/office/drawing/2014/main" id="{5A7D3442-B0CA-E9BD-D1A6-3979AD1C13B1}"/>
                </a:ext>
              </a:extLst>
            </p:cNvPr>
            <p:cNvSpPr txBox="1"/>
            <p:nvPr/>
          </p:nvSpPr>
          <p:spPr>
            <a:xfrm>
              <a:off x="0" y="66675"/>
              <a:ext cx="12754239" cy="728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4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200" b="0" i="0" u="none" strike="noStrike" kern="1200" cap="none" spc="-8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SPINNER</a:t>
              </a:r>
            </a:p>
          </p:txBody>
        </p:sp>
        <p:sp>
          <p:nvSpPr>
            <p:cNvPr id="25" name="TextBox 21">
              <a:extLst>
                <a:ext uri="{FF2B5EF4-FFF2-40B4-BE49-F238E27FC236}">
                  <a16:creationId xmlns:a16="http://schemas.microsoft.com/office/drawing/2014/main" id="{F0FFB409-D03F-81D7-CC76-950DDF9EA21B}"/>
                </a:ext>
              </a:extLst>
            </p:cNvPr>
            <p:cNvSpPr txBox="1"/>
            <p:nvPr/>
          </p:nvSpPr>
          <p:spPr>
            <a:xfrm>
              <a:off x="-21053" y="794908"/>
              <a:ext cx="12754238" cy="1325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4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000" b="0" i="0" u="none" strike="noStrike" kern="1200" cap="none" spc="6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Частое удачное использование в приложении</a:t>
              </a:r>
              <a:endParaRPr kumimoji="0" lang="en-US" sz="2999" b="0" i="0" u="none" strike="noStrike" kern="1200" cap="none" spc="59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4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3">
            <a:extLst>
              <a:ext uri="{FF2B5EF4-FFF2-40B4-BE49-F238E27FC236}">
                <a16:creationId xmlns:a16="http://schemas.microsoft.com/office/drawing/2014/main" id="{95EE1E85-8E97-026D-4716-38293F46C90A}"/>
              </a:ext>
            </a:extLst>
          </p:cNvPr>
          <p:cNvSpPr txBox="1"/>
          <p:nvPr/>
        </p:nvSpPr>
        <p:spPr>
          <a:xfrm>
            <a:off x="2971800" y="887504"/>
            <a:ext cx="11329791" cy="104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10"/>
              </a:lnSpc>
            </a:pPr>
            <a:r>
              <a:rPr lang="ru-RU" sz="6600" spc="-17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  <a:endParaRPr lang="en-US" sz="6600" spc="-17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B990F6-BEEB-224E-E5F0-2AFFB867D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600" y="521565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68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1357" y="2410261"/>
            <a:ext cx="6501443" cy="1803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en-US" sz="8800" spc="-175" dirty="0" err="1">
                <a:solidFill>
                  <a:srgbClr val="1D7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</a:t>
            </a:r>
            <a:r>
              <a:rPr lang="en-US" sz="8800" spc="-175" dirty="0">
                <a:solidFill>
                  <a:srgbClr val="1D7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spc="-175" dirty="0" err="1">
                <a:solidFill>
                  <a:srgbClr val="1D7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окно</a:t>
            </a:r>
            <a:endParaRPr lang="en-US" sz="8800" spc="-175" dirty="0">
              <a:solidFill>
                <a:srgbClr val="1D7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6600"/>
              </a:lnSpc>
            </a:pPr>
            <a:r>
              <a:rPr lang="en-US" sz="8800" spc="-175" dirty="0" err="1">
                <a:solidFill>
                  <a:srgbClr val="1D7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программы</a:t>
            </a:r>
            <a:endParaRPr lang="en-US" sz="8800" spc="-175" dirty="0">
              <a:solidFill>
                <a:srgbClr val="1D7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47910" y="8860249"/>
            <a:ext cx="10372552" cy="150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5"/>
              </a:lnSpc>
            </a:pPr>
            <a:r>
              <a:rPr lang="en-US" sz="3181" dirty="0" err="1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  <a:r>
              <a:rPr lang="en-US" sz="3181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81" dirty="0" err="1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lang="en-US" sz="3181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81" dirty="0" err="1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способствует</a:t>
            </a:r>
            <a:r>
              <a:rPr lang="en-US" sz="3181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4135"/>
              </a:lnSpc>
            </a:pPr>
            <a:r>
              <a:rPr lang="en-US" sz="3181" dirty="0" err="1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взаимодействию</a:t>
            </a:r>
            <a:r>
              <a:rPr lang="en-US" sz="3181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81" dirty="0" err="1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lang="en-US" sz="3181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sz="3181" dirty="0" err="1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</a:t>
            </a:r>
            <a:endParaRPr lang="en-US" sz="3181" dirty="0">
              <a:solidFill>
                <a:srgbClr val="1724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4135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9"/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pic>
        <p:nvPicPr>
          <p:cNvPr id="13" name="Рисунок 12" descr="Изображение выглядит как текст, строительство, вода, на открытом воздух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C0DE42E-507A-2A11-AE2C-42047CAB8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028" y="1709738"/>
            <a:ext cx="3791479" cy="7649643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текст, в помещении, компьютерный монитор, Офисное зд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9D0351-FCFE-156B-0E3B-989C426A6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095" y="1709738"/>
            <a:ext cx="3781953" cy="7649642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мебель, сцена, библиотека, комна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8CF319-4A01-0F22-0F49-CA3AFA15D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5574" y="1714500"/>
            <a:ext cx="3772426" cy="76448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8B0CBF-C0B8-8FA4-A162-A570123C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F1AA280-C093-810A-2ED3-89DA1493CE0C}"/>
              </a:ext>
            </a:extLst>
          </p:cNvPr>
          <p:cNvSpPr txBox="1"/>
          <p:nvPr/>
        </p:nvSpPr>
        <p:spPr>
          <a:xfrm>
            <a:off x="679287" y="1999197"/>
            <a:ext cx="5569114" cy="2625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800" spc="-175" dirty="0">
                <a:solidFill>
                  <a:srgbClr val="1D7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kumimoji="0" lang="en-US" sz="8800" b="0" i="0" u="none" strike="noStrike" kern="1200" cap="none" spc="-175" normalizeH="0" baseline="0" noProof="0" dirty="0" err="1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рограмм</a:t>
            </a: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 в разных ролях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rgbClr val="1D7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2D7A8B-DA9A-ACE7-CC0D-A9635E6DE327}"/>
              </a:ext>
            </a:extLst>
          </p:cNvPr>
          <p:cNvSpPr txBox="1"/>
          <p:nvPr/>
        </p:nvSpPr>
        <p:spPr>
          <a:xfrm>
            <a:off x="647910" y="8860249"/>
            <a:ext cx="10372552" cy="150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способствует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взаимодействию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</a:t>
            </a:r>
            <a:endParaRPr kumimoji="0" lang="en-US" sz="3181" b="0" i="0" u="none" strike="noStrike" kern="1200" cap="none" spc="0" normalizeH="0" baseline="0" noProof="0" dirty="0">
              <a:ln>
                <a:noFill/>
              </a:ln>
              <a:solidFill>
                <a:srgbClr val="17242D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A97259-70CC-7A5E-6384-88683C8D1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104900"/>
            <a:ext cx="3771900" cy="762000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B3CCD6-96BC-2532-D773-48188511F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0" y="1104900"/>
            <a:ext cx="3781953" cy="762000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C08EC9-0E7D-17AF-C4F2-4A89EDD0F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653" y="1104901"/>
            <a:ext cx="3781953" cy="7620000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DEF4D749-DDFD-CB05-BEC0-7A61E8470F27}"/>
              </a:ext>
            </a:extLst>
          </p:cNvPr>
          <p:cNvSpPr txBox="1"/>
          <p:nvPr/>
        </p:nvSpPr>
        <p:spPr>
          <a:xfrm>
            <a:off x="679287" y="4624724"/>
            <a:ext cx="5950114" cy="1024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181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Разный функционал для разных ролей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26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EB476E-BA21-1ADE-5639-0BD22935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616BA55-DDCA-F5FE-3F6B-0C5F4B477C3B}"/>
              </a:ext>
            </a:extLst>
          </p:cNvPr>
          <p:cNvSpPr txBox="1"/>
          <p:nvPr/>
        </p:nvSpPr>
        <p:spPr>
          <a:xfrm>
            <a:off x="679286" y="1999197"/>
            <a:ext cx="6501443" cy="1779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записей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rgbClr val="1D7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C5E7009-881B-6F2F-A0E9-3339AA21A68E}"/>
              </a:ext>
            </a:extLst>
          </p:cNvPr>
          <p:cNvSpPr txBox="1"/>
          <p:nvPr/>
        </p:nvSpPr>
        <p:spPr>
          <a:xfrm>
            <a:off x="647910" y="8860249"/>
            <a:ext cx="10372552" cy="150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способствует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взаимодействию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</a:t>
            </a:r>
            <a:endParaRPr kumimoji="0" lang="en-US" sz="3181" b="0" i="0" u="none" strike="noStrike" kern="1200" cap="none" spc="0" normalizeH="0" baseline="0" noProof="0" dirty="0">
              <a:ln>
                <a:noFill/>
              </a:ln>
              <a:solidFill>
                <a:srgbClr val="17242D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10007DC3-3EB6-058F-F468-C93254D60D3C}"/>
              </a:ext>
            </a:extLst>
          </p:cNvPr>
          <p:cNvSpPr txBox="1"/>
          <p:nvPr/>
        </p:nvSpPr>
        <p:spPr>
          <a:xfrm>
            <a:off x="679286" y="3690527"/>
            <a:ext cx="5950114" cy="2075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 два варианта получения информации, поиск и отдельный экран со списком всех университетов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051325-C5B9-C312-4F5E-3019B9BAA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747" y="1104899"/>
            <a:ext cx="3781953" cy="7611537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FAF1D8-DD0E-347B-0D4E-45C1DC0BF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0" y="1104898"/>
            <a:ext cx="3801005" cy="761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26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9351C-2800-7D03-D886-F9645112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F5D345C-E9CF-D505-A5A1-A28369359F57}"/>
              </a:ext>
            </a:extLst>
          </p:cNvPr>
          <p:cNvSpPr txBox="1"/>
          <p:nvPr/>
        </p:nvSpPr>
        <p:spPr>
          <a:xfrm>
            <a:off x="679286" y="1999197"/>
            <a:ext cx="6501443" cy="1779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элементов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rgbClr val="1D7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7F893F8-3F26-9480-55DB-2B26F21765B6}"/>
              </a:ext>
            </a:extLst>
          </p:cNvPr>
          <p:cNvSpPr txBox="1"/>
          <p:nvPr/>
        </p:nvSpPr>
        <p:spPr>
          <a:xfrm>
            <a:off x="647910" y="8860249"/>
            <a:ext cx="10372552" cy="150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способствует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взаимодействию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</a:t>
            </a:r>
            <a:endParaRPr kumimoji="0" lang="en-US" sz="3181" b="0" i="0" u="none" strike="noStrike" kern="1200" cap="none" spc="0" normalizeH="0" baseline="0" noProof="0" dirty="0">
              <a:ln>
                <a:noFill/>
              </a:ln>
              <a:solidFill>
                <a:srgbClr val="17242D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2CC82314-75E4-DDBC-EB36-72ADA6057ABB}"/>
              </a:ext>
            </a:extLst>
          </p:cNvPr>
          <p:cNvSpPr txBox="1"/>
          <p:nvPr/>
        </p:nvSpPr>
        <p:spPr>
          <a:xfrm>
            <a:off x="679286" y="3690527"/>
            <a:ext cx="5950114" cy="1118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ru-RU" sz="3200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добавлять удалять изменять элементы таблиц</a:t>
            </a:r>
            <a:endParaRPr lang="en-US" sz="3200" dirty="0">
              <a:solidFill>
                <a:srgbClr val="1724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00CDFD-427D-308D-CAEB-8710B81E5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747" y="1104898"/>
            <a:ext cx="3781953" cy="7611537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D2276A-5912-F289-95F9-F8306CD71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0" y="1104898"/>
            <a:ext cx="3801005" cy="7611537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9C8D2F-C991-9DAB-2F6B-B56C861C4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4705" y="1104898"/>
            <a:ext cx="3772426" cy="761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31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1416A-62D2-A1C1-A943-9C55C3C01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FF757A8-9F34-DD3C-6EBC-8977651884C7}"/>
              </a:ext>
            </a:extLst>
          </p:cNvPr>
          <p:cNvSpPr txBox="1"/>
          <p:nvPr/>
        </p:nvSpPr>
        <p:spPr>
          <a:xfrm>
            <a:off x="679286" y="1999197"/>
            <a:ext cx="6501443" cy="1779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логики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rgbClr val="1D7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6E419AB-6F9B-9C7C-83A3-36C05129DBBF}"/>
              </a:ext>
            </a:extLst>
          </p:cNvPr>
          <p:cNvSpPr txBox="1"/>
          <p:nvPr/>
        </p:nvSpPr>
        <p:spPr>
          <a:xfrm>
            <a:off x="647910" y="8860249"/>
            <a:ext cx="10372552" cy="149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способствует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взаимодействию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</a:t>
            </a:r>
            <a:endParaRPr kumimoji="0" lang="en-US" sz="3181" b="0" i="0" u="none" strike="noStrike" kern="1200" cap="none" spc="0" normalizeH="0" baseline="0" noProof="0" dirty="0">
              <a:ln>
                <a:noFill/>
              </a:ln>
              <a:solidFill>
                <a:srgbClr val="17242D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6E1AE9E1-3D46-7E66-2B6E-8555480E5245}"/>
              </a:ext>
            </a:extLst>
          </p:cNvPr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ED89B5E-5B1A-D8B1-A0D9-6CAAC84BABAD}"/>
                </a:ext>
              </a:extLst>
            </p:cNvPr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7B8DD5D-413E-EDBB-20D6-B41A5756F8C2}"/>
              </a:ext>
            </a:extLst>
          </p:cNvPr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97F2420-E9BF-ADDB-4302-C8A1308AFA6C}"/>
                </a:ext>
              </a:extLst>
            </p:cNvPr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sp>
        <p:nvSpPr>
          <p:cNvPr id="15" name="TextBox 7">
            <a:extLst>
              <a:ext uri="{FF2B5EF4-FFF2-40B4-BE49-F238E27FC236}">
                <a16:creationId xmlns:a16="http://schemas.microsoft.com/office/drawing/2014/main" id="{6E649215-989A-FB6D-1C89-613E05714711}"/>
              </a:ext>
            </a:extLst>
          </p:cNvPr>
          <p:cNvSpPr txBox="1"/>
          <p:nvPr/>
        </p:nvSpPr>
        <p:spPr>
          <a:xfrm>
            <a:off x="679286" y="3690527"/>
            <a:ext cx="5950114" cy="1106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17242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студентов и преподавателей на специальности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7242D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C7B959-055A-496F-62B4-F47B78A3A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20" y="1104898"/>
            <a:ext cx="3743847" cy="7611537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545BAF6-BCDD-802A-E3CE-1EBBB49E3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9867" y="1104898"/>
            <a:ext cx="3810532" cy="761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0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CCAB0-70C5-3463-8482-721B0153C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F1F73D5-948C-51EB-BFE7-92F610B303B5}"/>
              </a:ext>
            </a:extLst>
          </p:cNvPr>
          <p:cNvSpPr txBox="1"/>
          <p:nvPr/>
        </p:nvSpPr>
        <p:spPr>
          <a:xfrm>
            <a:off x="381000" y="190500"/>
            <a:ext cx="7855114" cy="9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Форма студента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rgbClr val="1D7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3AF9B7-23A2-6340-0335-8FE8F9664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005" y="1143627"/>
            <a:ext cx="13622651" cy="12193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B82461C-E180-A83C-96EE-46CA70FB0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004" y="3514995"/>
            <a:ext cx="13622651" cy="962159"/>
          </a:xfrm>
          <a:prstGeom prst="rect">
            <a:avLst/>
          </a:prstGeom>
        </p:spPr>
      </p:pic>
      <p:sp>
        <p:nvSpPr>
          <p:cNvPr id="14" name="TextBox 3">
            <a:extLst>
              <a:ext uri="{FF2B5EF4-FFF2-40B4-BE49-F238E27FC236}">
                <a16:creationId xmlns:a16="http://schemas.microsoft.com/office/drawing/2014/main" id="{462C7322-6668-3D94-8BD9-8E483C918632}"/>
              </a:ext>
            </a:extLst>
          </p:cNvPr>
          <p:cNvSpPr txBox="1"/>
          <p:nvPr/>
        </p:nvSpPr>
        <p:spPr>
          <a:xfrm>
            <a:off x="381000" y="2582239"/>
            <a:ext cx="7855114" cy="9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Форма учителя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rgbClr val="1D7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3E680D6-F685-3237-6695-4B69BAA2C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004" y="6008983"/>
            <a:ext cx="11079121" cy="762106"/>
          </a:xfrm>
          <a:prstGeom prst="rect">
            <a:avLst/>
          </a:prstGeom>
        </p:spPr>
      </p:pic>
      <p:sp>
        <p:nvSpPr>
          <p:cNvPr id="20" name="TextBox 3">
            <a:extLst>
              <a:ext uri="{FF2B5EF4-FFF2-40B4-BE49-F238E27FC236}">
                <a16:creationId xmlns:a16="http://schemas.microsoft.com/office/drawing/2014/main" id="{862DC9A1-8A88-BC45-86C0-39639AF70CF7}"/>
              </a:ext>
            </a:extLst>
          </p:cNvPr>
          <p:cNvSpPr txBox="1"/>
          <p:nvPr/>
        </p:nvSpPr>
        <p:spPr>
          <a:xfrm>
            <a:off x="381000" y="4865983"/>
            <a:ext cx="14941714" cy="9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Форма студент-специальность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rgbClr val="1D7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0FF993A3-A711-A58B-97AE-AD3DD1CAAA10}"/>
              </a:ext>
            </a:extLst>
          </p:cNvPr>
          <p:cNvSpPr txBox="1"/>
          <p:nvPr/>
        </p:nvSpPr>
        <p:spPr>
          <a:xfrm>
            <a:off x="381000" y="7149727"/>
            <a:ext cx="14941714" cy="9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Форма учитель-специальность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rgbClr val="1D7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69D085B-34E7-0CD6-AD1C-496FA8760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7004" y="8082483"/>
            <a:ext cx="11079121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02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E5931-3432-1E82-252F-96F5FA39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5E8C0C7-26C6-33C5-8047-DD8A32CBE923}"/>
              </a:ext>
            </a:extLst>
          </p:cNvPr>
          <p:cNvSpPr txBox="1"/>
          <p:nvPr/>
        </p:nvSpPr>
        <p:spPr>
          <a:xfrm>
            <a:off x="679286" y="1999197"/>
            <a:ext cx="10369714" cy="9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Форма университеты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rgbClr val="1D7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A4BE6C08-1551-1045-395F-B4F168D08086}"/>
              </a:ext>
            </a:extLst>
          </p:cNvPr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EA2AC2A-185B-AE13-3AD4-281A92B30FA8}"/>
                </a:ext>
              </a:extLst>
            </p:cNvPr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5531ECA-97DB-A00A-5F68-F36A67E63BE6}"/>
              </a:ext>
            </a:extLst>
          </p:cNvPr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998DAF5-06D4-1C99-27CC-AD9CD7864634}"/>
                </a:ext>
              </a:extLst>
            </p:cNvPr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sp>
        <p:nvSpPr>
          <p:cNvPr id="15" name="TextBox 7">
            <a:extLst>
              <a:ext uri="{FF2B5EF4-FFF2-40B4-BE49-F238E27FC236}">
                <a16:creationId xmlns:a16="http://schemas.microsoft.com/office/drawing/2014/main" id="{1D09CACD-1C23-4203-F8BF-87F1B9F86925}"/>
              </a:ext>
            </a:extLst>
          </p:cNvPr>
          <p:cNvSpPr txBox="1"/>
          <p:nvPr/>
        </p:nvSpPr>
        <p:spPr>
          <a:xfrm>
            <a:off x="679286" y="3690527"/>
            <a:ext cx="5950114" cy="1695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 err="1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</a:t>
            </a:r>
            <a:r>
              <a:rPr lang="en-US" sz="3200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3200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Университеты</a:t>
            </a:r>
            <a:r>
              <a:rPr lang="en-US" sz="3200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- </a:t>
            </a:r>
            <a:r>
              <a:rPr lang="en-US" sz="3200" dirty="0" err="1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</a:t>
            </a:r>
            <a:r>
              <a:rPr lang="en-US" sz="3200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информацию</a:t>
            </a:r>
            <a:r>
              <a:rPr lang="en-US" sz="3200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 </a:t>
            </a:r>
            <a:r>
              <a:rPr lang="en-US" sz="3200" dirty="0" err="1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имеющихся</a:t>
            </a:r>
            <a:r>
              <a:rPr lang="en-US" sz="3200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университетах</a:t>
            </a:r>
            <a:r>
              <a:rPr lang="en-US" sz="3200" dirty="0">
                <a:solidFill>
                  <a:srgbClr val="1724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Рисунок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BB2781-994F-F38C-901B-78CBAE4E8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798509"/>
            <a:ext cx="12079386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91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E4A8F-2640-96D7-4C81-5664F86A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3999F96-6825-3AFE-6875-F02FD278A08C}"/>
              </a:ext>
            </a:extLst>
          </p:cNvPr>
          <p:cNvSpPr txBox="1"/>
          <p:nvPr/>
        </p:nvSpPr>
        <p:spPr>
          <a:xfrm>
            <a:off x="679286" y="1999197"/>
            <a:ext cx="6501443" cy="1745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Перспектива разработки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rgbClr val="1D7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33455F57-35D1-5500-1DDB-584C1D49CAEB}"/>
              </a:ext>
            </a:extLst>
          </p:cNvPr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158AB9D-E868-2C41-D013-67E86E7E36F5}"/>
                </a:ext>
              </a:extLst>
            </p:cNvPr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B7840AC-420E-D4F8-1C3D-6A0A83B4D4CA}"/>
              </a:ext>
            </a:extLst>
          </p:cNvPr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C203037-F4CA-EDE6-99E8-FA1EF837AC51}"/>
                </a:ext>
              </a:extLst>
            </p:cNvPr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sp>
        <p:nvSpPr>
          <p:cNvPr id="30" name="TextBox 3">
            <a:extLst>
              <a:ext uri="{FF2B5EF4-FFF2-40B4-BE49-F238E27FC236}">
                <a16:creationId xmlns:a16="http://schemas.microsoft.com/office/drawing/2014/main" id="{A7C136B0-2A15-6DA8-D136-D2F8CBD4887D}"/>
              </a:ext>
            </a:extLst>
          </p:cNvPr>
          <p:cNvSpPr txBox="1"/>
          <p:nvPr/>
        </p:nvSpPr>
        <p:spPr>
          <a:xfrm>
            <a:off x="838200" y="4457700"/>
            <a:ext cx="17449800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marR="0" lvl="0" indent="-85725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60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кода,</a:t>
            </a:r>
            <a:r>
              <a:rPr lang="ru-RU" sz="6000" spc="-175" dirty="0">
                <a:solidFill>
                  <a:srgbClr val="1D7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редактирование базы данных</a:t>
            </a:r>
          </a:p>
          <a:p>
            <a:pPr marL="857250" marR="0" lvl="0" indent="-85725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6000" b="0" i="0" u="none" strike="noStrike" kern="1200" cap="none" spc="-175" normalizeH="0" baseline="0" noProof="0" dirty="0">
                <a:ln>
                  <a:noFill/>
                </a:ln>
                <a:solidFill>
                  <a:srgbClr val="1D715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функционала настройки интерфейса</a:t>
            </a:r>
          </a:p>
          <a:p>
            <a:pPr marL="857250" marR="0" lvl="0" indent="-85725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6000" spc="-175" dirty="0">
                <a:solidFill>
                  <a:srgbClr val="1D7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Уведомления и напоминания</a:t>
            </a:r>
            <a:endParaRPr kumimoji="0" lang="ru-RU" sz="6000" b="0" i="0" u="none" strike="noStrike" kern="1200" cap="none" spc="-175" normalizeH="0" baseline="0" noProof="0" dirty="0">
              <a:ln>
                <a:noFill/>
              </a:ln>
              <a:solidFill>
                <a:srgbClr val="1D715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Рисунок 33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B49F69-329B-EB6F-2086-52B6EB91E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00" y="5752678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72295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153</TotalTime>
  <Words>325</Words>
  <Application>Microsoft Office PowerPoint</Application>
  <PresentationFormat>Произвольный</PresentationFormat>
  <Paragraphs>61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Calibri</vt:lpstr>
      <vt:lpstr>Arial</vt:lpstr>
      <vt:lpstr>Century Gothic</vt:lpstr>
      <vt:lpstr>Wingdings 3</vt:lpstr>
      <vt:lpstr>Times New Roman</vt:lpstr>
      <vt:lpstr>Легкий дым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Frosted Music Brand Guidelines Presentation</dc:title>
  <dc:creator>pr305a01</dc:creator>
  <cp:lastModifiedBy>andrey rogov</cp:lastModifiedBy>
  <cp:revision>18</cp:revision>
  <dcterms:created xsi:type="dcterms:W3CDTF">2006-08-16T00:00:00Z</dcterms:created>
  <dcterms:modified xsi:type="dcterms:W3CDTF">2025-12-25T15:38:33Z</dcterms:modified>
  <dc:identifier>DADq6QgwR64</dc:identifier>
</cp:coreProperties>
</file>